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0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832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040" cy="480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"/>
          </p:nvPr>
        </p:nvSpPr>
        <p:spPr>
          <a:xfrm>
            <a:off x="3884760" y="11580840"/>
            <a:ext cx="2971440" cy="61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2A62D9-FF9D-4005-A7A1-0323F7FE0E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2DB5F-E77E-9214-18BF-20EB72477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E45F0F-5C8E-98C0-CCA3-1C7F2417A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389D82-E8F4-C52F-03C7-FFDC12657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Monsieur le Président, Messieurs les membres du jury. Je vais vous présenter mon travail de fin d'études : NESIA, et son tuteur NESTOR.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EDC10-B4B1-2265-26F8-493C5E727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41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Voici le fil de l'exposé. L'essentiel de mon temps ira à la solution et à la démonstration.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année, des centaines de milliers de candidats. Le paradoxe : ce n'est pas le volume de travail qui fait la différence, c'est l'organisation.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courbe rouge : sans révision. La bleue : ce que fait NESIA — à chaque reprise la mémoire remonte et redescend plus lentement. C'est un problème d'optimisation, donc ça se calcule.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familles de solutions. La colonne de droite est la plus instructive : aucune ne connaît le contexte de l'élève. C'est le vide que NESIA comble.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Voici l'architecture de la valeur. Je détaille les deux piliers les plus distinctifs : le planning et NESTOR.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L'application ne demande que ce que l'élève sait déjà de lui-même. La formule poids = difficulté × coefficient rend le planning propre à chaque 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différence n'est pas le modèle : c'est ce qu'on lui donne. À gauche l'élève est seul avec sa question ; à droite le serveur enrichit la question de tout ce qu'il sait de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BASCULER VERS LE TÉLÉPHONE / L'ÉMULATEUR. Montrer : 1) l'inscription, 2) la génération du planning, 3) une question à NESTOR. Prévoir 3-4 minutes. Si la démo échoue, enchaîner sur les captures de la slide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Filet de sécurité si la démo échoue, et complément visuel : inscription à gauche, tutorat NESTOR à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fonctionnalités essentielles sont validées de bout en bout. J'assume les limites : la validation pédagogique quantitative demanderait une cohorte sur une année.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horizons. Le plus important : l'étude d'impact longitudinale, qui validerait quantitativement les hypothèses.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de clôture, puis se taire et attendre les questions. Ne pas meubler.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MASTER_LIGHT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</a:p>
        </p:txBody>
      </p:sp>
    </p:spTree>
    <p:extLst>
      <p:ext uri="{BB962C8B-B14F-4D97-AF65-F5344CB8AC3E}">
        <p14:creationId xmlns:p14="http://schemas.microsoft.com/office/powerpoint/2010/main" val="3464002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17/06/relationships/model3d" Target="../media/model3d1.glb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3"/>
          <p:cNvPicPr/>
          <p:nvPr/>
        </p:nvPicPr>
        <p:blipFill>
          <a:blip r:embed="rId3"/>
          <a:stretch/>
        </p:blipFill>
        <p:spPr>
          <a:xfrm>
            <a:off x="5587920" y="106560"/>
            <a:ext cx="763200" cy="76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Image 8" descr="Une image contenant texte, logo, Police, Marque&#10;&#10;Le contenu généré par l’IA peut être incorrect."/>
          <p:cNvPicPr/>
          <p:nvPr/>
        </p:nvPicPr>
        <p:blipFill>
          <a:blip r:embed="rId4"/>
          <a:stretch/>
        </p:blipFill>
        <p:spPr>
          <a:xfrm>
            <a:off x="5588640" y="1081080"/>
            <a:ext cx="750240" cy="75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Shape 8"/>
          <p:cNvSpPr/>
          <p:nvPr/>
        </p:nvSpPr>
        <p:spPr>
          <a:xfrm>
            <a:off x="1775340" y="4081354"/>
            <a:ext cx="8534520" cy="360"/>
          </a:xfrm>
          <a:prstGeom prst="line">
            <a:avLst/>
          </a:prstGeom>
          <a:ln w="19050">
            <a:solidFill>
              <a:srgbClr val="D4AC0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Text 13"/>
          <p:cNvSpPr/>
          <p:nvPr/>
        </p:nvSpPr>
        <p:spPr>
          <a:xfrm>
            <a:off x="4255920" y="6471000"/>
            <a:ext cx="3657240" cy="38628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1219320">
              <a:lnSpc>
                <a:spcPct val="100000"/>
              </a:lnSpc>
              <a:tabLst>
                <a:tab pos="0" algn="l"/>
              </a:tabLst>
            </a:pPr>
            <a:r>
              <a:rPr lang="en-US" sz="147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Année académique 2025-2026 </a:t>
            </a:r>
            <a:endParaRPr lang="fr-FR" sz="1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" name="Tableau 50"/>
          <p:cNvGraphicFramePr/>
          <p:nvPr/>
        </p:nvGraphicFramePr>
        <p:xfrm>
          <a:off x="560520" y="252000"/>
          <a:ext cx="2738880" cy="2187360"/>
        </p:xfrm>
        <a:graphic>
          <a:graphicData uri="http://schemas.openxmlformats.org/drawingml/2006/table">
            <a:tbl>
              <a:tblPr/>
              <a:tblGrid>
                <a:gridCol w="273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87360">
                <a:tc>
                  <a:txBody>
                    <a:bodyPr/>
                    <a:lstStyle/>
                    <a:p>
                      <a:pPr algn="ctr" defTabSz="914400">
                        <a:lnSpc>
                          <a:spcPts val="1199"/>
                        </a:lnSpc>
                        <a:tabLst>
                          <a:tab pos="0" algn="l"/>
                        </a:tabLst>
                      </a:pPr>
                      <a:r>
                        <a:rPr lang="fr-FR" sz="1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REPUBLIQUE DU CAMEROUN</a:t>
                      </a:r>
                      <a:endParaRPr lang="fr-FR" sz="1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199"/>
                        </a:lnSpc>
                        <a:tabLst>
                          <a:tab pos="0" algn="l"/>
                        </a:tabLst>
                      </a:pPr>
                      <a:r>
                        <a:rPr lang="fr-FR" sz="1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Paix-Travail-Patrie</a:t>
                      </a:r>
                      <a:endParaRPr lang="fr-FR" sz="1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199"/>
                        </a:lnSpc>
                        <a:tabLst>
                          <a:tab pos="0" algn="l"/>
                        </a:tabLst>
                      </a:pPr>
                      <a:r>
                        <a:rPr lang="fr-FR" sz="1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*******</a:t>
                      </a:r>
                      <a:endParaRPr lang="fr-FR" sz="1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199"/>
                        </a:lnSpc>
                        <a:tabLst>
                          <a:tab pos="0" algn="l"/>
                        </a:tabLst>
                      </a:pPr>
                      <a:r>
                        <a:rPr lang="fr-FR" sz="1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MINISTERE DE L’ENSEIGNEMENT SUPERIEUR</a:t>
                      </a:r>
                      <a:endParaRPr lang="fr-FR" sz="1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199"/>
                        </a:lnSpc>
                        <a:tabLst>
                          <a:tab pos="0" algn="l"/>
                        </a:tabLst>
                      </a:pPr>
                      <a:r>
                        <a:rPr lang="fr-FR" sz="1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******</a:t>
                      </a:r>
                      <a:endParaRPr lang="fr-FR" sz="1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199"/>
                        </a:lnSpc>
                        <a:tabLst>
                          <a:tab pos="0" algn="l"/>
                        </a:tabLst>
                      </a:pPr>
                      <a:r>
                        <a:rPr lang="fr-FR" sz="1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UNIVERSITE D’EBOLOWA</a:t>
                      </a:r>
                      <a:endParaRPr lang="fr-FR" sz="1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199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******</a:t>
                      </a:r>
                      <a:endParaRPr lang="fr-FR" sz="1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199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FACULTE DES SCIENCES</a:t>
                      </a:r>
                      <a:endParaRPr lang="fr-FR" sz="1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199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******</a:t>
                      </a:r>
                      <a:endParaRPr lang="fr-FR" sz="1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199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BP...............EBOLOWA</a:t>
                      </a:r>
                      <a:endParaRPr lang="fr-FR" sz="1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ts val="1199"/>
                        </a:lnSpc>
                        <a:tabLst>
                          <a:tab pos="0" algn="l"/>
                        </a:tabLst>
                      </a:pPr>
                      <a:endParaRPr lang="fr-FR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au 52"/>
          <p:cNvGraphicFramePr/>
          <p:nvPr>
            <p:extLst>
              <p:ext uri="{D42A27DB-BD31-4B8C-83A1-F6EECF244321}">
                <p14:modId xmlns:p14="http://schemas.microsoft.com/office/powerpoint/2010/main" val="1951128053"/>
              </p:ext>
            </p:extLst>
          </p:nvPr>
        </p:nvGraphicFramePr>
        <p:xfrm>
          <a:off x="8745840" y="101160"/>
          <a:ext cx="2706480" cy="2131920"/>
        </p:xfrm>
        <a:graphic>
          <a:graphicData uri="http://schemas.openxmlformats.org/drawingml/2006/table">
            <a:tbl>
              <a:tblPr/>
              <a:tblGrid>
                <a:gridCol w="270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1920">
                <a:tc>
                  <a:txBody>
                    <a:bodyPr/>
                    <a:lstStyle/>
                    <a:p>
                      <a:pPr algn="ctr" defTabSz="914400">
                        <a:lnSpc>
                          <a:spcPts val="1199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REPUBLIC OF CAMEROON</a:t>
                      </a:r>
                      <a:endParaRPr lang="fr-FR" sz="10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049"/>
                        </a:lnSpc>
                        <a:tabLst>
                          <a:tab pos="0" algn="l"/>
                        </a:tabLst>
                      </a:pPr>
                      <a:r>
                        <a:rPr lang="en-GB" sz="9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REPUBLIC OF CAMEROON</a:t>
                      </a:r>
                      <a:endParaRPr lang="fr-FR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049"/>
                        </a:lnSpc>
                        <a:tabLst>
                          <a:tab pos="0" algn="l"/>
                        </a:tabLst>
                      </a:pPr>
                      <a:r>
                        <a:rPr lang="en-GB" sz="9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Peace-Work-Fatherland</a:t>
                      </a:r>
                      <a:endParaRPr lang="fr-FR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049"/>
                        </a:lnSpc>
                        <a:tabLst>
                          <a:tab pos="0" algn="l"/>
                        </a:tabLst>
                      </a:pPr>
                      <a:r>
                        <a:rPr lang="en-GB" sz="9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******</a:t>
                      </a:r>
                      <a:endParaRPr lang="fr-FR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049"/>
                        </a:lnSpc>
                        <a:tabLst>
                          <a:tab pos="0" algn="l"/>
                        </a:tabLst>
                      </a:pPr>
                      <a:r>
                        <a:rPr lang="en-GB" sz="9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MINISTRY OH HIGHER EDUCATION</a:t>
                      </a:r>
                      <a:endParaRPr lang="fr-FR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049"/>
                        </a:lnSpc>
                        <a:tabLst>
                          <a:tab pos="0" algn="l"/>
                        </a:tabLst>
                      </a:pPr>
                      <a:r>
                        <a:rPr lang="en-GB" sz="9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******</a:t>
                      </a:r>
                      <a:endParaRPr lang="fr-FR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049"/>
                        </a:lnSpc>
                        <a:tabLst>
                          <a:tab pos="0" algn="l"/>
                        </a:tabLst>
                      </a:pPr>
                      <a:r>
                        <a:rPr lang="en-GB" sz="9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THE UNIVERSITY OF EBOLOWA</a:t>
                      </a:r>
                      <a:endParaRPr lang="fr-FR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049"/>
                        </a:lnSpc>
                        <a:tabLst>
                          <a:tab pos="0" algn="l"/>
                        </a:tabLst>
                      </a:pPr>
                      <a:r>
                        <a:rPr lang="en-GB" sz="9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******</a:t>
                      </a:r>
                      <a:endParaRPr lang="fr-FR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049"/>
                        </a:lnSpc>
                        <a:tabLst>
                          <a:tab pos="0" algn="l"/>
                        </a:tabLst>
                      </a:pPr>
                      <a:r>
                        <a:rPr lang="en-GB" sz="9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FACULTY OF SCIENCES</a:t>
                      </a:r>
                      <a:endParaRPr lang="fr-FR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049"/>
                        </a:lnSpc>
                        <a:tabLst>
                          <a:tab pos="0" algn="l"/>
                        </a:tabLst>
                      </a:pPr>
                      <a:r>
                        <a:rPr lang="en-GB" sz="9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*******</a:t>
                      </a:r>
                      <a:endParaRPr lang="fr-FR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049"/>
                        </a:lnSpc>
                        <a:tabLst>
                          <a:tab pos="0" algn="l"/>
                        </a:tabLst>
                      </a:pPr>
                      <a:r>
                        <a:rPr lang="en-GB" sz="9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P.O.BOX...............EBOLOWA</a:t>
                      </a:r>
                      <a:endParaRPr lang="fr-FR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049"/>
                        </a:lnSpc>
                        <a:tabLst>
                          <a:tab pos="0" algn="l"/>
                        </a:tabLst>
                      </a:pPr>
                      <a:r>
                        <a:rPr lang="en-GB" sz="9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Peace-Work-Fatherland</a:t>
                      </a:r>
                      <a:endParaRPr lang="fr-FR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ts val="1049"/>
                        </a:lnSpc>
                        <a:tabLst>
                          <a:tab pos="0" algn="l"/>
                        </a:tabLst>
                      </a:pPr>
                      <a:r>
                        <a:rPr lang="en-GB" sz="900" b="1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******</a:t>
                      </a:r>
                      <a:endParaRPr lang="fr-FR" sz="9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r" defTabSz="914400">
                        <a:lnSpc>
                          <a:spcPts val="1426"/>
                        </a:lnSpc>
                        <a:tabLst>
                          <a:tab pos="0" algn="l"/>
                        </a:tabLst>
                      </a:pPr>
                      <a:endParaRPr lang="fr-FR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rganigramme : Alternative 53"/>
          <p:cNvSpPr/>
          <p:nvPr/>
        </p:nvSpPr>
        <p:spPr>
          <a:xfrm>
            <a:off x="1635660" y="2233080"/>
            <a:ext cx="8674200" cy="1737000"/>
          </a:xfrm>
          <a:prstGeom prst="flowChartAlternateProcess">
            <a:avLst/>
          </a:prstGeom>
          <a:solidFill>
            <a:srgbClr val="1976D2"/>
          </a:solidFill>
          <a:ln>
            <a:solidFill>
              <a:srgbClr val="4472C4"/>
            </a:solidFill>
          </a:ln>
          <a:effectLst>
            <a:outerShdw blurRad="63360" dist="37674" dir="2700000">
              <a:srgbClr val="0070C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CONCEPTION D'UNE APPLICATION MOBILE INTELLIGENTE DE SUIVI PERSONNALISÉ DES RÉVISIONS POUR LES ÉLÈVES DES CLASSES D'EXAMEN AU CAMEROUN </a:t>
            </a:r>
            <a:endParaRPr lang="fr-FR" sz="2400" b="0" u="none" strike="noStrike" dirty="0">
              <a:solidFill>
                <a:schemeClr val="bg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ZoneTexte 54"/>
          <p:cNvSpPr/>
          <p:nvPr/>
        </p:nvSpPr>
        <p:spPr>
          <a:xfrm>
            <a:off x="4205880" y="4122000"/>
            <a:ext cx="3673440" cy="119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800" b="0" i="1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Présenté par :</a:t>
            </a:r>
            <a:endParaRPr lang="fr-F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fr-FR" sz="1800" b="0" i="1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NDIBI EYETEMOU Salomon Junior</a:t>
            </a:r>
            <a:endParaRPr lang="fr-F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fr-FR" sz="1800" b="0" i="1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Matricule : 23I0056FS</a:t>
            </a:r>
            <a:endParaRPr lang="fr-F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fr-FR" sz="1800" b="0" i="1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Filière et niveau : TIC L3</a:t>
            </a:r>
            <a:endParaRPr lang="fr-F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ZoneTexte 55"/>
          <p:cNvSpPr/>
          <p:nvPr/>
        </p:nvSpPr>
        <p:spPr>
          <a:xfrm>
            <a:off x="4753080" y="5469840"/>
            <a:ext cx="2433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numCol="1" spcCol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fr-FR" sz="1800" b="0" i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Sous l'encadrement de :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ZoneTexte 56"/>
          <p:cNvSpPr/>
          <p:nvPr/>
        </p:nvSpPr>
        <p:spPr>
          <a:xfrm>
            <a:off x="3177749" y="5917334"/>
            <a:ext cx="5898749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wrap="square" numCol="1" spcCol="0" anchor="t">
            <a:spAutoFit/>
          </a:bodyPr>
          <a:lstStyle/>
          <a:p>
            <a:r>
              <a:rPr lang="fr-FR" sz="1800" b="0" i="1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Dr KENGNI</a:t>
            </a:r>
            <a:r>
              <a:rPr lang="fr-FR" i="1" dirty="0">
                <a:solidFill>
                  <a:schemeClr val="dk1"/>
                </a:solidFill>
                <a:latin typeface="Times New Roman"/>
                <a:ea typeface="Calibri"/>
              </a:rPr>
              <a:t>, </a:t>
            </a:r>
            <a:r>
              <a:rPr lang="fr-FR" sz="1800" b="0" i="1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Dr NYABEYE </a:t>
            </a:r>
            <a:r>
              <a:rPr lang="fr-FR" i="1" dirty="0">
                <a:solidFill>
                  <a:schemeClr val="dk1"/>
                </a:solidFill>
                <a:latin typeface="Times New Roman"/>
                <a:ea typeface="Calibri"/>
              </a:rPr>
              <a:t>&amp; Dr BESSALA </a:t>
            </a:r>
            <a:endParaRPr lang="fr-F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Model 1" descr="Jellyfish">
                <a:extLst>
                  <a:ext uri="{FF2B5EF4-FFF2-40B4-BE49-F238E27FC236}">
                    <a16:creationId xmlns:a16="http://schemas.microsoft.com/office/drawing/2014/main" id="{B0DBC39F-4495-A803-ED86-220FDD2120F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49248451"/>
                  </p:ext>
                </p:extLst>
              </p:nvPr>
            </p:nvGraphicFramePr>
            <p:xfrm>
              <a:off x="-99483" y="3797698"/>
              <a:ext cx="1675133" cy="2988590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1675133" cy="2988590"/>
                    </a:xfrm>
                    <a:prstGeom prst="rect">
                      <a:avLst/>
                    </a:prstGeom>
                  </am3d:spPr>
                  <am3d:camera>
                    <am3d:pos x="0" y="0" z="59230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09827" d="1000000"/>
                    <am3d:preTrans dx="0" dy="-17997510" dz="988462"/>
                    <am3d:scale>
                      <am3d:sx n="1000000" d="1000000"/>
                      <am3d:sy n="1000000" d="1000000"/>
                      <am3d:sz n="1000000" d="1000000"/>
                    </am3d:scale>
                    <am3d:rot ax="-9764945" ay="2747654" az="-10047039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5977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Model 1" descr="Jellyfish">
                <a:extLst>
                  <a:ext uri="{FF2B5EF4-FFF2-40B4-BE49-F238E27FC236}">
                    <a16:creationId xmlns:a16="http://schemas.microsoft.com/office/drawing/2014/main" id="{B0DBC39F-4495-A803-ED86-220FDD2120F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99483" y="3797698"/>
                <a:ext cx="1675133" cy="29885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 descr="Jellyfish">
                <a:extLst>
                  <a:ext uri="{FF2B5EF4-FFF2-40B4-BE49-F238E27FC236}">
                    <a16:creationId xmlns:a16="http://schemas.microsoft.com/office/drawing/2014/main" id="{A398F9BA-FA69-5AD9-79BD-C0A4CB5FDDC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83009949"/>
                  </p:ext>
                </p:extLst>
              </p:nvPr>
            </p:nvGraphicFramePr>
            <p:xfrm>
              <a:off x="10678598" y="3730654"/>
              <a:ext cx="1656102" cy="2874071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1656102" cy="2874071"/>
                    </a:xfrm>
                    <a:prstGeom prst="rect">
                      <a:avLst/>
                    </a:prstGeom>
                  </am3d:spPr>
                  <am3d:camera>
                    <am3d:pos x="0" y="0" z="592303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09827" d="1000000"/>
                    <am3d:preTrans dx="0" dy="-17997510" dz="988462"/>
                    <am3d:scale>
                      <am3d:sx n="1000000" d="1000000"/>
                      <am3d:sy n="1000000" d="1000000"/>
                      <am3d:sz n="1000000" d="1000000"/>
                    </am3d:scale>
                    <am3d:rot ax="-9585310" ay="2311649" az="-10023694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359773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 descr="Jellyfish">
                <a:extLst>
                  <a:ext uri="{FF2B5EF4-FFF2-40B4-BE49-F238E27FC236}">
                    <a16:creationId xmlns:a16="http://schemas.microsoft.com/office/drawing/2014/main" id="{A398F9BA-FA69-5AD9-79BD-C0A4CB5FDDC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78598" y="3730654"/>
                <a:ext cx="1656102" cy="287407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25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2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37" presetClass="emph" presetSubtype="1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3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C4DE91-2605-6C0C-791F-D8C439E1F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3.png">
            <a:extLst>
              <a:ext uri="{FF2B5EF4-FFF2-40B4-BE49-F238E27FC236}">
                <a16:creationId xmlns:a16="http://schemas.microsoft.com/office/drawing/2014/main" id="{A8E39DB4-2215-86E4-DFFE-54527003A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-1280160"/>
            <a:ext cx="4754880" cy="4937760"/>
          </a:xfrm>
          <a:prstGeom prst="rect">
            <a:avLst/>
          </a:prstGeom>
        </p:spPr>
      </p:pic>
      <p:pic>
        <p:nvPicPr>
          <p:cNvPr id="3" name="Image 1" descr="deck_assets/blob6.png">
            <a:extLst>
              <a:ext uri="{FF2B5EF4-FFF2-40B4-BE49-F238E27FC236}">
                <a16:creationId xmlns:a16="http://schemas.microsoft.com/office/drawing/2014/main" id="{70850391-B5CB-3A3A-5DDC-27932881C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44168" y="4663440"/>
            <a:ext cx="4206240" cy="4023360"/>
          </a:xfrm>
          <a:prstGeom prst="rect">
            <a:avLst/>
          </a:prstGeom>
        </p:spPr>
      </p:pic>
      <p:pic>
        <p:nvPicPr>
          <p:cNvPr id="4" name="Image 2" descr="deck_assets/blob8.png">
            <a:extLst>
              <a:ext uri="{FF2B5EF4-FFF2-40B4-BE49-F238E27FC236}">
                <a16:creationId xmlns:a16="http://schemas.microsoft.com/office/drawing/2014/main" id="{F2F8D9DD-35B3-7B69-F208-CF872E7F8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4572000"/>
            <a:ext cx="2743200" cy="2926080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57AB1280-AADE-21A0-6EB4-75A6A5EE1E41}"/>
              </a:ext>
            </a:extLst>
          </p:cNvPr>
          <p:cNvSpPr/>
          <p:nvPr/>
        </p:nvSpPr>
        <p:spPr>
          <a:xfrm>
            <a:off x="640080" y="384048"/>
            <a:ext cx="237744" cy="237744"/>
          </a:xfrm>
          <a:prstGeom prst="diamond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EEB721A9-4233-9453-E50B-CFC25F50AB7A}"/>
              </a:ext>
            </a:extLst>
          </p:cNvPr>
          <p:cNvSpPr/>
          <p:nvPr/>
        </p:nvSpPr>
        <p:spPr>
          <a:xfrm>
            <a:off x="786384" y="384048"/>
            <a:ext cx="237744" cy="237744"/>
          </a:xfrm>
          <a:prstGeom prst="diamond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D6F12A28-79D5-7837-0AF5-35C10F719F9F}"/>
              </a:ext>
            </a:extLst>
          </p:cNvPr>
          <p:cNvSpPr/>
          <p:nvPr/>
        </p:nvSpPr>
        <p:spPr>
          <a:xfrm>
            <a:off x="10972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NESIA</a:t>
            </a:r>
            <a:endParaRPr lang="en-US" sz="12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C8810567-D82E-4F27-1D2D-7407032FFC1F}"/>
              </a:ext>
            </a:extLst>
          </p:cNvPr>
          <p:cNvSpPr/>
          <p:nvPr/>
        </p:nvSpPr>
        <p:spPr>
          <a:xfrm>
            <a:off x="640080" y="1600200"/>
            <a:ext cx="6766560" cy="0"/>
          </a:xfrm>
          <a:prstGeom prst="line">
            <a:avLst/>
          </a:prstGeom>
          <a:noFill/>
          <a:ln w="12700">
            <a:solidFill>
              <a:srgbClr val="111124"/>
            </a:solidFill>
            <a:prstDash val="solid"/>
          </a:ln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1517FBD-EB89-E0F1-4C7E-5A33BF827B49}"/>
              </a:ext>
            </a:extLst>
          </p:cNvPr>
          <p:cNvSpPr/>
          <p:nvPr/>
        </p:nvSpPr>
        <p:spPr>
          <a:xfrm>
            <a:off x="594360" y="1874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NESIA</a:t>
            </a:r>
            <a:endParaRPr lang="en-US" sz="72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5E2E57A-F3B0-59AF-BB64-767F70033A92}"/>
              </a:ext>
            </a:extLst>
          </p:cNvPr>
          <p:cNvSpPr/>
          <p:nvPr/>
        </p:nvSpPr>
        <p:spPr>
          <a:xfrm>
            <a:off x="640080" y="3063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0C0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planning de révision qui épouse la vie réelle de l'élève,</a:t>
            </a:r>
            <a:endParaRPr lang="en-US" sz="18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0C0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NESTOR, un tuteur d'IA qui connaît son programme.</a:t>
            </a:r>
            <a:endParaRPr lang="en-US" sz="18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8EACB78A-E729-7B08-388C-DB693BD9798A}"/>
              </a:ext>
            </a:extLst>
          </p:cNvPr>
          <p:cNvSpPr/>
          <p:nvPr/>
        </p:nvSpPr>
        <p:spPr>
          <a:xfrm>
            <a:off x="640080" y="4114800"/>
            <a:ext cx="6766560" cy="0"/>
          </a:xfrm>
          <a:prstGeom prst="line">
            <a:avLst/>
          </a:prstGeom>
          <a:noFill/>
          <a:ln w="12700">
            <a:solidFill>
              <a:srgbClr val="11112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30044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-914400"/>
            <a:ext cx="4023360" cy="4572000"/>
          </a:xfrm>
          <a:prstGeom prst="rect">
            <a:avLst/>
          </a:prstGeom>
        </p:spPr>
      </p:pic>
      <p:pic>
        <p:nvPicPr>
          <p:cNvPr id="3" name="Image 1" descr="deck_assets/blo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2" y="4044909"/>
            <a:ext cx="3161330" cy="316133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384048"/>
            <a:ext cx="237744" cy="237744"/>
          </a:xfrm>
          <a:prstGeom prst="diamond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86384" y="384048"/>
            <a:ext cx="237744" cy="237744"/>
          </a:xfrm>
          <a:prstGeom prst="diamond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972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NESIA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0328" y="9372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C0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L'EXPOSÉ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40080" y="1268314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4000" dirty="0"/>
          </a:p>
        </p:txBody>
      </p:sp>
      <p:sp>
        <p:nvSpPr>
          <p:cNvPr id="9" name="Shape 5"/>
          <p:cNvSpPr/>
          <p:nvPr/>
        </p:nvSpPr>
        <p:spPr>
          <a:xfrm>
            <a:off x="2551175" y="2144061"/>
            <a:ext cx="457200" cy="457200"/>
          </a:xfrm>
          <a:prstGeom prst="ellipse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551175" y="21788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62746" y="2124421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3089841" y="2879581"/>
            <a:ext cx="457200" cy="457200"/>
          </a:xfrm>
          <a:prstGeom prst="ellipse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91504" y="289368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846715" y="2879581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problématique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3846715" y="3644416"/>
            <a:ext cx="457200" cy="457200"/>
          </a:xfrm>
          <a:prstGeom prst="ellipse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6715" y="362872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709160" y="3587709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de l'existant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4621876" y="4386178"/>
            <a:ext cx="457200" cy="457200"/>
          </a:xfrm>
          <a:prstGeom prst="ellipse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21876" y="44052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432367" y="4343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: NESIA</a:t>
            </a:r>
            <a:endParaRPr lang="en-US" sz="1900" dirty="0"/>
          </a:p>
        </p:txBody>
      </p:sp>
      <p:sp>
        <p:nvSpPr>
          <p:cNvPr id="21" name="Shape 17"/>
          <p:cNvSpPr/>
          <p:nvPr/>
        </p:nvSpPr>
        <p:spPr>
          <a:xfrm>
            <a:off x="5432367" y="5099129"/>
            <a:ext cx="457200" cy="457200"/>
          </a:xfrm>
          <a:prstGeom prst="ellipse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32367" y="509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404956" y="504800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900" dirty="0"/>
          </a:p>
        </p:txBody>
      </p:sp>
      <p:sp>
        <p:nvSpPr>
          <p:cNvPr id="24" name="Shape 20"/>
          <p:cNvSpPr/>
          <p:nvPr/>
        </p:nvSpPr>
        <p:spPr>
          <a:xfrm>
            <a:off x="6176356" y="5788152"/>
            <a:ext cx="457200" cy="457200"/>
          </a:xfrm>
          <a:prstGeom prst="ellipse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176356" y="5788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7045037" y="5761129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et perspectives</a:t>
            </a:r>
            <a:endParaRPr lang="en-US" sz="1900" dirty="0"/>
          </a:p>
        </p:txBody>
      </p:sp>
      <p:sp>
        <p:nvSpPr>
          <p:cNvPr id="27" name="Text 23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-524166"/>
            <a:ext cx="3520440" cy="334441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384048"/>
            <a:ext cx="237744" cy="237744"/>
          </a:xfrm>
          <a:prstGeom prst="diamond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86384" y="384048"/>
            <a:ext cx="237744" cy="237744"/>
          </a:xfrm>
          <a:prstGeom prst="diamond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NESIA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C0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preparation des </a:t>
            </a:r>
            <a:r>
              <a:rPr lang="en-US" sz="3200" b="1" dirty="0" err="1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examens</a:t>
            </a:r>
            <a:r>
              <a:rPr lang="en-US" sz="32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 </a:t>
            </a:r>
            <a:r>
              <a:rPr lang="en-US" sz="3200" b="1" dirty="0" err="1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</a:t>
            </a:r>
            <a:r>
              <a:rPr lang="en-US" sz="32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majeur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40080" y="25146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3FF"/>
          </a:solidFill>
          <a:ln w="12700">
            <a:solidFill>
              <a:srgbClr val="BBB8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2788920"/>
            <a:ext cx="146304" cy="146304"/>
          </a:xfrm>
          <a:prstGeom prst="ellipse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99923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BEPC · Probatoire · Bac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examens nationaux qui décident de la poursuite des études et, largement, de l'avenir.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25112" y="25146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3FF"/>
          </a:solidFill>
          <a:ln w="12700">
            <a:solidFill>
              <a:srgbClr val="BBB8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99432" y="2788920"/>
            <a:ext cx="146304" cy="146304"/>
          </a:xfrm>
          <a:prstGeom prst="ellipse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9432" y="299923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coefficients </a:t>
            </a:r>
            <a:r>
              <a:rPr lang="en-US" sz="1600" b="1" dirty="0" err="1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différents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99432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filière a ses matières pondérées par le MINESEC. L'effort devrait leur être proportionné.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10144" y="25146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3FF"/>
          </a:solidFill>
          <a:ln w="12700">
            <a:solidFill>
              <a:srgbClr val="BBB8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84464" y="2788920"/>
            <a:ext cx="146304" cy="146304"/>
          </a:xfrm>
          <a:prstGeom prst="ellipse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299923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smartphone partout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diffusion du mobile et de l'IA ouvre une voie neuve pour l'accompagnement scolaire.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" y="4800600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111124"/>
          </a:solidFill>
          <a:ln w="12700">
            <a:solidFill>
              <a:srgbClr val="11112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516636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réussite ne dépend pas du volume de travail, mais de la façon dont il est organisé.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0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7 -0.68356 L -0.03737 -0.68333 C -0.03489 -0.66759 -0.03125 -0.65185 -0.02994 -0.63542 C -0.02825 -0.61458 -0.02838 -0.59352 -0.02851 -0.57245 C -0.02864 -0.51713 -0.0289 -0.4618 -0.03073 -0.40648 C -0.03138 -0.3838 -0.03437 -0.36134 -0.0358 -0.33866 C -0.03789 -0.30717 -0.03906 -0.27569 -0.04023 -0.24444 C -0.0401 -0.15255 -0.03958 -0.06065 -0.03958 0.03148 L -0.03958 0.03171 " pathEditMode="relative" rAng="0" ptsTypes="AAAAAAAAA">
                                      <p:cBhvr>
                                        <p:cTn id="6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9" y="35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-1097280"/>
            <a:ext cx="3474720" cy="3474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384048"/>
            <a:ext cx="237744" cy="237744"/>
          </a:xfrm>
          <a:prstGeom prst="diamond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86384" y="384048"/>
            <a:ext cx="237744" cy="237744"/>
          </a:xfrm>
          <a:prstGeom prst="diamond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NESIA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C0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PROBLÉMATIQUE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adversaire mesuré depuis 1885 : l'oubli</a:t>
            </a:r>
            <a:endParaRPr lang="en-US" sz="3000" dirty="0"/>
          </a:p>
        </p:txBody>
      </p:sp>
      <p:pic>
        <p:nvPicPr>
          <p:cNvPr id="8" name="Image 1" descr="deck_assets/cour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31720"/>
            <a:ext cx="6766560" cy="34564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589520" y="23317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111124"/>
          </a:solidFill>
          <a:ln w="12700">
            <a:solidFill>
              <a:srgbClr val="11112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6384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Ebbinghaus, 1885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863840" y="28346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révision, l'essentiel d'un chapitre disparaît en quelques jours.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589520" y="4114800"/>
            <a:ext cx="3977640" cy="1673352"/>
          </a:xfrm>
          <a:prstGeom prst="roundRect">
            <a:avLst>
              <a:gd name="adj" fmla="val 5464"/>
            </a:avLst>
          </a:prstGeom>
          <a:solidFill>
            <a:srgbClr val="F4F3FF"/>
          </a:solidFill>
          <a:ln w="12700">
            <a:solidFill>
              <a:srgbClr val="BBB8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86384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4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parade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863840" y="4590288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Revoir à intervalles croissants : J+1, J+3, J+7, J+14. Le savoir tient.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C0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bâtir, pour chaque élève, le meilleur planning — et l'accompagner par une IA qui connaît son contexte ?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354" y="-640080"/>
            <a:ext cx="3291840" cy="3657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384048"/>
            <a:ext cx="237744" cy="237744"/>
          </a:xfrm>
          <a:prstGeom prst="diamond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86384" y="384048"/>
            <a:ext cx="237744" cy="237744"/>
          </a:xfrm>
          <a:prstGeom prst="diamond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NESIA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C0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DE L'EXISTANT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22129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dont l'élève dispose — et pourquoi cela ne suffit pas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68680" y="20574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023360" y="2057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QU'ELLE APPORTE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71456" y="2050825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A4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QU'ELLE NE FAIT PAS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2468880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F7F6FF"/>
          </a:solidFill>
          <a:ln w="9525">
            <a:solidFill>
              <a:srgbClr val="BBB8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63347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manuscrit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023360" y="263347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accessible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858000" y="2633472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 err="1">
                <a:solidFill>
                  <a:srgbClr val="C03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</a:t>
            </a:r>
            <a:r>
              <a:rPr lang="en-US" sz="1150" dirty="0">
                <a:solidFill>
                  <a:srgbClr val="C03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150" dirty="0" err="1">
                <a:solidFill>
                  <a:srgbClr val="C03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imprévus</a:t>
            </a:r>
            <a:r>
              <a:rPr lang="en-US" sz="1150" dirty="0">
                <a:solidFill>
                  <a:srgbClr val="C03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C03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</a:t>
            </a:r>
            <a:r>
              <a:rPr lang="en-US" sz="1150" dirty="0">
                <a:solidFill>
                  <a:srgbClr val="C03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3401568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F7F6FF"/>
          </a:solidFill>
          <a:ln w="9525">
            <a:solidFill>
              <a:srgbClr val="BBB8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5661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Agendas &amp; to-do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023360" y="356616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dans la poche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858000" y="356616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03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simples contenants : tout repose sur l'élève.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4334256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F7F6FF"/>
          </a:solidFill>
          <a:ln w="9525">
            <a:solidFill>
              <a:srgbClr val="BBB8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49884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Anki, My Study Life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023360" y="449884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ou mémorisation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858000" y="4498848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03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</a:t>
            </a:r>
            <a:r>
              <a:rPr lang="en-US" sz="1150" dirty="0" err="1">
                <a:solidFill>
                  <a:srgbClr val="C03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maitrise</a:t>
            </a:r>
            <a:r>
              <a:rPr lang="en-US" sz="1150" dirty="0">
                <a:solidFill>
                  <a:srgbClr val="C03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 les </a:t>
            </a:r>
            <a:r>
              <a:rPr lang="en-US" sz="1150" dirty="0" err="1">
                <a:solidFill>
                  <a:srgbClr val="C03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filières</a:t>
            </a:r>
            <a:r>
              <a:rPr lang="en-US" sz="1150" dirty="0">
                <a:solidFill>
                  <a:srgbClr val="C03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les </a:t>
            </a:r>
            <a:r>
              <a:rPr lang="en-US" sz="1150" dirty="0" err="1">
                <a:solidFill>
                  <a:srgbClr val="C03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</a:t>
            </a:r>
            <a:r>
              <a:rPr lang="en-US" sz="1150" dirty="0">
                <a:solidFill>
                  <a:srgbClr val="C03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camerounais.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5266944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F7F6FF"/>
          </a:solidFill>
          <a:ln w="9525">
            <a:solidFill>
              <a:srgbClr val="BBB8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543153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Gemini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023360" y="543153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Explications à la demande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858000" y="5431536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03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échange part de zéro : ne savent rien de l'élève.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C0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outil ne combine méthode, contexte camerounais et gestion des imprévus.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51 0.01088 L -0.1651 0.01088 C -0.16445 -0.00093 -0.1638 -0.01273 -0.16302 -0.02454 C -0.16263 -0.02986 -0.1625 -0.03519 -0.16146 -0.04028 C -0.16055 -0.04537 -0.15872 -0.05 -0.15703 -0.05463 C -0.15521 -0.05995 -0.15339 -0.06528 -0.15117 -0.07037 C -0.14844 -0.07662 -0.1388 -0.09051 -0.13646 -0.09375 C -0.13359 -0.09792 -0.13112 -0.10301 -0.1276 -0.10556 C -0.12018 -0.11111 -0.11198 -0.11389 -0.10417 -0.11736 C -0.10026 -0.11898 -0.09635 -0.1213 -0.09232 -0.12269 C -0.08568 -0.12477 -0.07643 -0.12569 -0.06953 -0.12639 C -0.04896 -0.12222 -0.02826 -0.11875 -0.00781 -0.11343 C -0.003 -0.11227 0.00182 -0.11042 0.00612 -0.10694 C 0.01419 -0.10069 0.01745 -0.09329 0.02305 -0.08333 C 0.02552 -0.07361 0.02838 -0.06389 0.02969 -0.05324 C 0.03034 -0.04861 0.03021 -0.04375 0.03047 -0.03889 L 0.03125 0.04491 L 0.03125 0.04491 L 0.03125 0.04491 " pathEditMode="relative" ptsTypes="AAAAAAAAAAAAAAAAAAA">
                                      <p:cBhvr>
                                        <p:cTn id="8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778305">
            <a:off x="-650892" y="4443151"/>
            <a:ext cx="3474720" cy="3291840"/>
          </a:xfrm>
          <a:prstGeom prst="rect">
            <a:avLst/>
          </a:prstGeom>
        </p:spPr>
      </p:pic>
      <p:pic>
        <p:nvPicPr>
          <p:cNvPr id="3" name="Image 1" descr="deck_assets/blo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996" y="-1017485"/>
            <a:ext cx="2926080" cy="3108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384048"/>
            <a:ext cx="237744" cy="237744"/>
          </a:xfrm>
          <a:prstGeom prst="diamond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86384" y="384048"/>
            <a:ext cx="237744" cy="237744"/>
          </a:xfrm>
          <a:prstGeom prst="diamond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972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NESIA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C0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40080" y="1554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NESIA — quatre piliers</a:t>
            </a:r>
            <a:endParaRPr lang="en-US" sz="3200" dirty="0"/>
          </a:p>
        </p:txBody>
      </p:sp>
      <p:sp>
        <p:nvSpPr>
          <p:cNvPr id="9" name="Shape 5"/>
          <p:cNvSpPr/>
          <p:nvPr/>
        </p:nvSpPr>
        <p:spPr>
          <a:xfrm>
            <a:off x="640080" y="2468880"/>
            <a:ext cx="2633472" cy="2880360"/>
          </a:xfrm>
          <a:prstGeom prst="roundRect">
            <a:avLst>
              <a:gd name="adj" fmla="val 3472"/>
            </a:avLst>
          </a:prstGeom>
          <a:solidFill>
            <a:srgbClr val="F4F3FF"/>
          </a:solidFill>
          <a:ln w="12700">
            <a:solidFill>
              <a:srgbClr val="BBB8F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14400" y="2743200"/>
            <a:ext cx="548640" cy="548640"/>
          </a:xfrm>
          <a:prstGeom prst="ellipse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1440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14400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planning qui vous ressemble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914400" y="42976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 depuis vos coefficients, difficultés et vraies disponibilités.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410712" y="2468880"/>
            <a:ext cx="2633472" cy="2880360"/>
          </a:xfrm>
          <a:prstGeom prst="roundRect">
            <a:avLst>
              <a:gd name="adj" fmla="val 3472"/>
            </a:avLst>
          </a:prstGeom>
          <a:solidFill>
            <a:srgbClr val="F4F3FF"/>
          </a:solidFill>
          <a:ln w="12700">
            <a:solidFill>
              <a:srgbClr val="BBB8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85032" y="2743200"/>
            <a:ext cx="548640" cy="548640"/>
          </a:xfrm>
          <a:prstGeom prst="ellipse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85032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685032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science de la mémoire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685032" y="42976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chapitre revu à J+1, J+3, J+7, J+14, automatiquement.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181344" y="2468880"/>
            <a:ext cx="2633472" cy="2880360"/>
          </a:xfrm>
          <a:prstGeom prst="roundRect">
            <a:avLst>
              <a:gd name="adj" fmla="val 3472"/>
            </a:avLst>
          </a:prstGeom>
          <a:solidFill>
            <a:srgbClr val="F4F3FF"/>
          </a:solidFill>
          <a:ln w="12700">
            <a:solidFill>
              <a:srgbClr val="BBB8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55664" y="2743200"/>
            <a:ext cx="548640" cy="548640"/>
          </a:xfrm>
          <a:prstGeom prst="ellipse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55664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455664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suivi fidèle au terrain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455664" y="42976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prof a traité et ce que vous maîtrisez : deux choses distinctes.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951976" y="2468880"/>
            <a:ext cx="2633472" cy="2880360"/>
          </a:xfrm>
          <a:prstGeom prst="roundRect">
            <a:avLst>
              <a:gd name="adj" fmla="val 3472"/>
            </a:avLst>
          </a:prstGeom>
          <a:solidFill>
            <a:srgbClr val="F4F3FF"/>
          </a:solidFill>
          <a:ln w="12700">
            <a:solidFill>
              <a:srgbClr val="BBB8F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226296" y="2743200"/>
            <a:ext cx="548640" cy="548640"/>
          </a:xfrm>
          <a:prstGeom prst="ellipse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226296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9226296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NESTOR, un tuteur qui vous connaît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9226296" y="429768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IA qui reçoit, à chaque question, votre classe et vos lacunes.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4159689" y="5906191"/>
            <a:ext cx="61090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0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Flutter · API REST Django · NESTOR (modèles de langage interchangeables)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534 -0.44282 L -0.05534 -0.44282 C -0.05156 -0.41805 -0.04674 -0.39352 -0.04401 -0.36805 C -0.0345 -0.28079 -0.02682 -0.21736 -0.03255 -0.13264 C -0.03489 -0.09653 -0.0375 -0.05972 -0.04401 -0.02523 L -0.04466 -0.02106 L -0.04466 -0.02106 L -0.04544 -0.01967 " pathEditMode="relative" ptsTypes="AAAAAAAA">
                                      <p:cBhvr>
                                        <p:cTn id="5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154 0.63333 L 0.09154 0.63333 C 0.09076 0.62199 0.08985 0.61065 0.0892 0.59931 C 0.08829 0.5838 0.08803 0.56829 0.08685 0.55301 C 0.08568 0.5375 0.0836 0.52222 0.0823 0.50671 C 0.07904 0.46898 0.07657 0.43125 0.07305 0.39375 C 0.07136 0.37477 0.07019 0.35532 0.06771 0.33657 C 0.06563 0.32037 0.05391 0.25718 0.05013 0.2412 C 0.04584 0.22269 0.03868 0.20625 0.03555 0.18681 C 0.03151 0.16134 0.03373 0.17407 0.02878 0.14884 C 0.02917 0.13333 0.0293 0.11782 0.03021 0.10255 C 0.03034 0.10046 0.03138 0.09907 0.03178 0.09699 C 0.03217 0.09491 0.0323 0.09259 0.03256 0.09028 C 0.03334 0.08357 0.03334 0.08495 0.0349 0.07801 C 0.03503 0.07477 0.03516 0.07153 0.03555 0.06852 C 0.03594 0.06644 0.03685 0.06505 0.03711 0.06296 C 0.03763 0.05857 0.0379 0.04954 0.0379 0.04954 L 0.0379 0.04954 " pathEditMode="relative" ptsTypes="AAAAAAAAAAAAAAAAAA">
                                      <p:cBhvr>
                                        <p:cTn id="5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966 -0.26296 L -0.01966 -0.26296 C -0.01901 -0.25694 -0.0181 -0.25092 -0.01758 -0.24467 C -0.0168 -0.2375 -0.01667 -0.22986 -0.01602 -0.22245 C -0.01537 -0.21435 -0.01459 -0.20602 -0.01381 -0.19768 C -0.01315 -0.175 -0.01328 -0.175 -0.01159 -0.15185 C -0.0112 -0.14629 -0.01055 -0.14074 -0.01016 -0.13495 C -0.00938 -0.12222 -0.00873 -0.10972 -0.00795 -0.09699 C -0.00769 -0.0875 -0.00756 -0.07778 -0.00716 -0.06829 C -0.0069 -0.05995 -0.00638 -0.05162 -0.00573 -0.04352 C -0.00508 -0.03518 -0.00352 -0.02685 -0.00352 -0.01852 L -0.00352 0.00509 L -0.00274 0.00509 L -0.00274 0.00509 " pathEditMode="relative" ptsTypes="AAAAAAAAAAAAAA">
                                      <p:cBhvr>
                                        <p:cTn id="8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2" grpId="0" animBg="1"/>
      <p:bldP spid="23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37744" cy="237744"/>
          </a:xfrm>
          <a:prstGeom prst="diamond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384048"/>
            <a:ext cx="237744" cy="237744"/>
          </a:xfrm>
          <a:prstGeom prst="diamond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C0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PILIER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5344" y="148189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planning bâti sur la vie réelle de l'élève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420624" cy="420624"/>
          </a:xfrm>
          <a:prstGeom prst="ellipse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468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objectifs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770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visée + difficulté ressentie par matière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355848"/>
            <a:ext cx="420624" cy="420624"/>
          </a:xfrm>
          <a:prstGeom prst="ellipse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3101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disponibilités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611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créneaux réels + préférence matin/soir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197096"/>
            <a:ext cx="420624" cy="420624"/>
          </a:xfrm>
          <a:prstGeom prst="ellipse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15137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emploi du temps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4531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cours du lycée, jour par jour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11124"/>
          </a:solidFill>
          <a:ln w="12700">
            <a:solidFill>
              <a:srgbClr val="1111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1937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 =  difficulté  ×  coefficient officiel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55595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B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coeff. 7 jugées difficiles → 21.   Philo coeff. 3 facile → 3.</a:t>
            </a:r>
            <a:endParaRPr lang="en-US" sz="1100" dirty="0"/>
          </a:p>
        </p:txBody>
      </p:sp>
      <p:pic>
        <p:nvPicPr>
          <p:cNvPr id="22" name="Image 0" descr="montage3_rap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640080"/>
            <a:ext cx="5804419" cy="541324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2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754880"/>
            <a:ext cx="2377440" cy="2560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384048"/>
            <a:ext cx="237744" cy="237744"/>
          </a:xfrm>
          <a:prstGeom prst="diamond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86384" y="384048"/>
            <a:ext cx="237744" cy="237744"/>
          </a:xfrm>
          <a:prstGeom prst="diamond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NESIA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831861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C0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· PILIER 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114461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NESTOR, le tuteur qui connaît votre élève</a:t>
            </a:r>
            <a:endParaRPr lang="en-US" sz="2800" dirty="0"/>
          </a:p>
        </p:txBody>
      </p:sp>
      <p:pic>
        <p:nvPicPr>
          <p:cNvPr id="8" name="Image 1" descr="/mnt/user-data/outputs/Figure2_positionnement_NES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732667"/>
            <a:ext cx="6949440" cy="415833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863840" y="2331720"/>
            <a:ext cx="3703320" cy="3227832"/>
          </a:xfrm>
          <a:prstGeom prst="roundRect">
            <a:avLst>
              <a:gd name="adj" fmla="val 2833"/>
            </a:avLst>
          </a:prstGeom>
          <a:solidFill>
            <a:srgbClr val="F4F3FF"/>
          </a:solidFill>
          <a:ln w="12700">
            <a:solidFill>
              <a:srgbClr val="BBB8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092440" y="25603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IA — mais nourrie du contexte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092440" y="32004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question, le serveur ajoute : la classe, la filière, les chapitres traités, le planning, les points faibles.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092440" y="4434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C0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une réponse ancrée dans la situation exacte de l'élève, pas un exposé générique.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Explique-moi les suites » → NESTOR sait que le prof a fini les suites arithmétiques, pas les géométriques.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023360"/>
            <a:ext cx="4206240" cy="4023360"/>
          </a:xfrm>
          <a:prstGeom prst="rect">
            <a:avLst/>
          </a:prstGeom>
        </p:spPr>
      </p:pic>
      <p:pic>
        <p:nvPicPr>
          <p:cNvPr id="3" name="Image 1" descr="deck_assets/blo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63040" y="-1280160"/>
            <a:ext cx="4023360" cy="43891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384048"/>
            <a:ext cx="237744" cy="237744"/>
          </a:xfrm>
          <a:prstGeom prst="diamond">
            <a:avLst/>
          </a:prstGeom>
          <a:solidFill>
            <a:srgbClr val="BBB8FF"/>
          </a:solidFill>
          <a:ln w="12700">
            <a:solidFill>
              <a:srgbClr val="BBB8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86384" y="384048"/>
            <a:ext cx="237744" cy="237744"/>
          </a:xfrm>
          <a:prstGeom prst="diamond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972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NESIA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40080" y="2468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B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0080" y="2926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à l'application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640080" y="3977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 ·  génération du planning  ·  une conversation avec NESTOR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1328 0.82338 L 0.91328 0.82361 C 0.8931 0.81088 0.88854 0.80834 0.86563 0.7919 C 0.82969 0.76598 0.79505 0.73334 0.75781 0.71297 L 0.64375 0.65047 C 0.62904 0.64213 0.61341 0.63681 0.59935 0.62454 C 0.57852 0.60648 0.56003 0.5919 0.5405 0.56875 C 0.52956 0.55602 0.51927 0.54144 0.50912 0.52662 C 0.47031 0.46991 0.45482 0.43102 0.41485 0.35672 C 0.40599 0.33982 0.39766 0.32153 0.38724 0.30764 C 0.37552 0.29167 0.36367 0.27639 0.35209 0.25996 C 0.32904 0.22709 0.30677 0.1919 0.28334 0.15926 C 0.26875 0.13912 0.25313 0.12153 0.23815 0.10232 C 0.19102 0.04121 0.23229 0.08704 0.15938 0.01111 C 0.14688 -0.00185 0.13581 -0.01157 0.12253 -0.02152 C 0.11862 -0.02453 0.11446 -0.02708 0.11029 -0.02963 C 0.10807 -0.03125 0.10586 -0.0331 0.10339 -0.03379 C 0.10039 -0.03495 0.09727 -0.03472 0.09427 -0.03518 C 0.07774 -0.0449 0.09284 -0.03657 0.04688 -0.03657 L 0.04688 -0.03634 " pathEditMode="relative" rAng="0" ptsTypes="AAAAAAAAAAAAAAAAAAAA">
                                      <p:cBhvr>
                                        <p:cTn id="3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320" y="-43171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0821 -0.76967 L -0.80821 -0.76967 C -0.76367 -0.74722 -0.71771 -0.73102 -0.67435 -0.70185 C -0.63073 -0.67245 -0.58399 -0.59606 -0.54662 -0.55208 C -0.49219 -0.48842 -0.43594 -0.42986 -0.38125 -0.36713 C -0.35899 -0.34143 -0.3375 -0.31342 -0.3155 -0.2868 C -0.21615 -0.1669 -0.21146 -0.15741 -0.12643 -0.06782 C -0.11055 -0.05092 -0.0961 -0.02731 -0.07826 -0.01875 C -0.05326 -0.00694 -0.02839 0.00602 -0.00326 0.01667 C 0.00143 0.01852 0.01133 0.01945 0.01133 0.01945 L 0.01133 0.01945 " pathEditMode="relative" ptsTypes="AAAAAAAAAAA">
                                      <p:cBhvr>
                                        <p:cTn id="3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237744" cy="237744"/>
          </a:xfrm>
          <a:prstGeom prst="diamond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384048"/>
            <a:ext cx="237744" cy="237744"/>
          </a:xfrm>
          <a:prstGeom prst="diamond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C0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EN IMAGES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de l'élève</a:t>
            </a:r>
            <a:endParaRPr lang="en-US" sz="2800" dirty="0"/>
          </a:p>
        </p:txBody>
      </p:sp>
      <p:pic>
        <p:nvPicPr>
          <p:cNvPr id="7" name="Image 0" descr="montage1_rap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77440"/>
            <a:ext cx="5349240" cy="3822192"/>
          </a:xfrm>
          <a:prstGeom prst="rect">
            <a:avLst/>
          </a:prstGeom>
        </p:spPr>
      </p:pic>
      <p:pic>
        <p:nvPicPr>
          <p:cNvPr id="8" name="Image 1" descr="montage5_rap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377440"/>
            <a:ext cx="5349240" cy="38221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4480560"/>
            <a:ext cx="3291840" cy="3108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384048"/>
            <a:ext cx="237744" cy="237744"/>
          </a:xfrm>
          <a:prstGeom prst="diamond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86384" y="384048"/>
            <a:ext cx="237744" cy="237744"/>
          </a:xfrm>
          <a:prstGeom prst="diamond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NESIA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C0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fonctionnel de bout en bout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0080" y="246888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F4F3FF"/>
          </a:solidFill>
          <a:ln w="12700">
            <a:solidFill>
              <a:srgbClr val="BBB8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2761488"/>
            <a:ext cx="365760" cy="365760"/>
          </a:xfrm>
          <a:prstGeom prst="ellipse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17320" y="2743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Plannings réalistes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32461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matières couvertes dès la première semaine ; révisions espacées présentes.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45352" y="246888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F4F3FF"/>
          </a:solidFill>
          <a:ln w="12700">
            <a:solidFill>
              <a:srgbClr val="BBB8FF"/>
            </a:solidFill>
            <a:prstDash val="solid"/>
          </a:ln>
        </p:spPr>
        <p:txBody>
          <a:bodyPr/>
          <a:lstStyle/>
          <a:p>
            <a:endParaRPr lang="fr-CM" dirty="0"/>
          </a:p>
        </p:txBody>
      </p:sp>
      <p:sp>
        <p:nvSpPr>
          <p:cNvPr id="14" name="Shape 11"/>
          <p:cNvSpPr/>
          <p:nvPr/>
        </p:nvSpPr>
        <p:spPr>
          <a:xfrm>
            <a:off x="6519672" y="2761488"/>
            <a:ext cx="365760" cy="365760"/>
          </a:xfrm>
          <a:prstGeom prst="ellipse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19672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022592" y="2743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fidèle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19672" y="32461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statut par chapitre : ce que le prof a traité, ce que l'élève maîtrise.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434340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F4F3FF"/>
          </a:solidFill>
          <a:ln w="12700">
            <a:solidFill>
              <a:srgbClr val="BBB8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14400" y="4636008"/>
            <a:ext cx="365760" cy="365760"/>
          </a:xfrm>
          <a:prstGeom prst="ellipse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4636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617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Imprévus absorbés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14400" y="5120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dette mémorielle calculée, compensation proposée.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245352" y="434340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F4F3FF"/>
          </a:solidFill>
          <a:ln w="12700">
            <a:solidFill>
              <a:srgbClr val="BBB8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19672" y="4636008"/>
            <a:ext cx="365760" cy="365760"/>
          </a:xfrm>
          <a:prstGeom prst="ellipse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19672" y="4636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022592" y="4617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NESTOR contextualisé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519672" y="5120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cohérentes avec la classe, la filière et la progression déclarée.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0080" y="6172200"/>
            <a:ext cx="49180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0C0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 par des tests fonctionnels sur émulateur et sur appareil réel.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9296 -0.75069 L -0.39296 -0.75069 C -0.39062 -0.7537 -0.38802 -0.75648 -0.38567 -0.75972 C -0.38385 -0.76227 -0.38242 -0.76551 -0.38046 -0.76759 C -0.36823 -0.78032 -0.35273 -0.79398 -0.33867 -0.80023 C -0.33658 -0.80116 -0.33476 -0.80231 -0.33268 -0.80301 C -0.325 -0.80509 -0.31836 -0.80579 -0.31067 -0.80671 L -0.23932 -0.80417 C -0.23841 -0.80417 -0.23789 -0.80231 -0.23711 -0.80162 L -0.21953 -0.78333 C -0.21744 -0.78125 -0.21562 -0.7787 -0.21354 -0.77685 C -0.20651 -0.77014 -0.19987 -0.7618 -0.19231 -0.75717 C -0.17695 -0.74768 -0.1707 -0.74305 -0.15325 -0.73634 C -0.147 -0.7338 -0.14062 -0.73241 -0.13411 -0.73102 C -0.10546 -0.72477 -0.06471 -0.72755 -0.04218 -0.72708 C -0.03151 -0.72523 -0.02057 -0.72454 -0.00989 -0.72176 C -0.00703 -0.72106 -0.00455 -0.71782 -0.00182 -0.71667 C 0.00039 -0.71574 0.00261 -0.71574 0.00482 -0.71528 C 0.00612 -0.70995 0.01029 -0.69421 0.01068 -0.68912 C 0.01146 -0.68009 0.0112 -0.67083 0.01146 -0.6618 C 0.01172 -0.63981 0.01133 -0.61805 0.01224 -0.5963 C 0.01263 -0.58495 0.0142 -0.57361 0.01511 -0.56227 C 0.01615 -0.54977 0.01706 -0.53704 0.0181 -0.52454 C 0.02019 -0.43079 0.01967 -0.46458 0.0181 -0.29051 C 0.01797 -0.27893 0.01719 -0.26782 0.01654 -0.25648 C 0.01563 -0.2368 0.01498 -0.21713 0.01368 -0.19768 C 0.01302 -0.18704 0.01146 -0.17662 0.01068 -0.1662 C 0.01003 -0.15741 0.00977 -0.14884 0.00925 -0.14005 C 0.0086 -0.13079 0.00756 -0.12176 0.00704 -0.1125 C 0.0017 -0.02731 0.0086 -0.12153 0.00404 -0.06157 C 0.00261 -0.01366 0.00261 -0.03032 0.00261 -0.0118 L 0.00261 -0.0118 " pathEditMode="relative" ptsTypes="AAAAAAAAAAAAAAAAAAAAAAAAAAAAAAAA">
                                      <p:cBhvr>
                                        <p:cTn id="81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79576" y="4206240"/>
            <a:ext cx="3474720" cy="3657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384048"/>
            <a:ext cx="237744" cy="237744"/>
          </a:xfrm>
          <a:prstGeom prst="diamond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86384" y="384048"/>
            <a:ext cx="237744" cy="237744"/>
          </a:xfrm>
          <a:prstGeom prst="diamond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NESIA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C0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reste à construire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640080" y="2514600"/>
            <a:ext cx="3520440" cy="2926080"/>
          </a:xfrm>
          <a:prstGeom prst="roundRect">
            <a:avLst>
              <a:gd name="adj" fmla="val 3125"/>
            </a:avLst>
          </a:prstGeom>
          <a:solidFill>
            <a:srgbClr val="F4F3FF"/>
          </a:solidFill>
          <a:ln w="12700">
            <a:solidFill>
              <a:srgbClr val="BBB8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2788920"/>
            <a:ext cx="457200" cy="457200"/>
          </a:xfrm>
          <a:prstGeom prst="ellipse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429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38862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en production, notifications de rappel, diagnostic exploité par l'algorithme.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25112" y="2514600"/>
            <a:ext cx="3520440" cy="2926080"/>
          </a:xfrm>
          <a:prstGeom prst="roundRect">
            <a:avLst>
              <a:gd name="adj" fmla="val 3125"/>
            </a:avLst>
          </a:prstGeom>
          <a:solidFill>
            <a:srgbClr val="F4F3FF"/>
          </a:solidFill>
          <a:ln w="12700">
            <a:solidFill>
              <a:srgbClr val="BBB8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99432" y="2788920"/>
            <a:ext cx="457200" cy="457200"/>
          </a:xfrm>
          <a:prstGeom prst="ellipse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9432" y="3429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599432" y="38862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parent, mode hors-ligne, extension aux sous-systèmes anglophone et technique.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10144" y="2514600"/>
            <a:ext cx="3520440" cy="2926080"/>
          </a:xfrm>
          <a:prstGeom prst="roundRect">
            <a:avLst>
              <a:gd name="adj" fmla="val 3125"/>
            </a:avLst>
          </a:prstGeom>
          <a:solidFill>
            <a:srgbClr val="F4F3FF"/>
          </a:solidFill>
          <a:ln w="12700">
            <a:solidFill>
              <a:srgbClr val="BBB8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84464" y="2788920"/>
            <a:ext cx="457200" cy="457200"/>
          </a:xfrm>
          <a:prstGeom prst="ellipse">
            <a:avLst/>
          </a:prstGeom>
          <a:solidFill>
            <a:srgbClr val="0C00FE"/>
          </a:solidFill>
          <a:ln w="12700">
            <a:solidFill>
              <a:srgbClr val="0C00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3429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284464" y="38862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d'impact sur une cohorte : assiduité, rétention, résultats aux examens.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pic>
        <p:nvPicPr>
          <p:cNvPr id="21" name="Image 0" descr="deck_assets/blob2.png">
            <a:extLst>
              <a:ext uri="{FF2B5EF4-FFF2-40B4-BE49-F238E27FC236}">
                <a16:creationId xmlns:a16="http://schemas.microsoft.com/office/drawing/2014/main" id="{D8EF1E58-6607-A67C-32E9-CA6A823FD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336865">
            <a:off x="8892498" y="-890647"/>
            <a:ext cx="3474720" cy="36576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168 0.64814 L -0.8168 0.64814 C -0.81537 0.59305 -0.81836 0.47314 -0.78399 0.4412 C -0.76472 0.42361 -0.74258 0.46388 -0.72201 0.47523 C -0.70951 0.52013 -0.70547 0.57638 -0.68451 0.60995 C -0.67305 0.62824 -0.64922 0.62824 -0.63855 0.60856 C -0.62514 0.58379 -0.63191 0.5405 -0.62865 0.50648 C -0.63972 0.46805 -0.6892 0.35902 -0.65 0.30115 C -0.63581 0.28009 -0.61329 0.29398 -0.59493 0.29027 C -0.57761 0.3287 -0.49844 0.5206 -0.47019 0.49838 C -0.31589 0.37708 -0.19896 0.13935 -0.05235 -0.00903 L 0.01876 -0.08102 L 0.01876 -0.08102 " pathEditMode="relative" ptsTypes="AAAAAAAAAAAAA">
                                      <p:cBhvr>
                                        <p:cTn id="4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2604 -0.71967 L 0.92604 -0.71967 C 0.93177 -0.69328 0.94089 -0.66921 0.92227 -0.64213 C 0.91354 -0.6294 0.90039 -0.63287 0.88933 -0.62847 C 0.87891 -0.63078 0.8681 -0.62986 0.85795 -0.63518 C 0.83112 -0.64977 0.82839 -0.67014 0.80443 -0.69514 C 0.78946 -0.71065 0.77435 -0.72708 0.75782 -0.73588 C 0.7362 -0.74722 0.71341 -0.74861 0.69115 -0.75486 C 0.68607 -0.73865 0.67761 -0.7243 0.67591 -0.70602 C 0.6711 -0.65578 0.73164 -0.59213 0.73477 -0.58634 C 0.74349 -0.56967 0.74857 -0.54815 0.75547 -0.52916 C 0.75729 -0.51088 0.76654 -0.49004 0.76081 -0.47477 C 0.74089 -0.42083 0.7056 -0.46504 0.68659 -0.4787 C 0.67344 -0.50926 0.66016 -0.55787 0.63073 -0.54676 C 0.60664 -0.53773 0.58607 -0.50926 0.56498 -0.48703 C 0.51055 -0.42986 0.46055 -0.35949 0.40417 -0.30879 C 0.34427 -0.25463 0.27774 -0.22685 0.21745 -0.17407 C 0.19493 -0.15416 0.17813 -0.11875 0.15782 -0.09236 C 0.14388 -0.0743 0.12852 -0.05972 0.11498 -0.04074 C 0.10573 -0.02778 0.10052 -0.00486 0.08972 0.00278 C 0.08073 0.00926 0.07175 0.01528 0.06289 0.02199 C 0.06211 0.02246 0.06068 0.02477 0.06068 0.02477 L 0.06133 0.02338 " pathEditMode="relative" ptsTypes="AAAAAAAAAAAAAAAAAAAAAAA">
                                      <p:cBhvr>
                                        <p:cTn id="4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_assets/blo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983207">
            <a:off x="1576205" y="-2553333"/>
            <a:ext cx="4754880" cy="4754880"/>
          </a:xfrm>
          <a:prstGeom prst="rect">
            <a:avLst/>
          </a:prstGeom>
        </p:spPr>
      </p:pic>
      <p:pic>
        <p:nvPicPr>
          <p:cNvPr id="3" name="Image 1" descr="deck_assets/blo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141914">
            <a:off x="8229600" y="3337966"/>
            <a:ext cx="4389120" cy="4572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384048"/>
            <a:ext cx="237744" cy="237744"/>
          </a:xfrm>
          <a:prstGeom prst="diamond">
            <a:avLst/>
          </a:prstGeom>
          <a:solidFill>
            <a:srgbClr val="BBB8FF"/>
          </a:solidFill>
          <a:ln w="12700">
            <a:solidFill>
              <a:srgbClr val="BBB8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86384" y="384048"/>
            <a:ext cx="237744" cy="237744"/>
          </a:xfrm>
          <a:prstGeom prst="diamond">
            <a:avLst/>
          </a:prstGeom>
          <a:solidFill>
            <a:srgbClr val="EA49A0"/>
          </a:solidFill>
          <a:ln w="12700">
            <a:solidFill>
              <a:srgbClr val="EA49A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972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NESIA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22960" y="18288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technique était disponible.</a:t>
            </a:r>
            <a:endParaRPr lang="en-US" sz="33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manquait, c'était le contexte.</a:t>
            </a:r>
            <a:endParaRPr lang="en-US" sz="3300" dirty="0"/>
          </a:p>
        </p:txBody>
      </p:sp>
      <p:sp>
        <p:nvSpPr>
          <p:cNvPr id="8" name="Text 4"/>
          <p:cNvSpPr/>
          <p:nvPr/>
        </p:nvSpPr>
        <p:spPr>
          <a:xfrm>
            <a:off x="822960" y="342900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B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NESIA ancre la répétition espacée et les modèles de langage dans les coefficients du MINESEC, le programme réellement traité et les heures dont l'élève dispose vraiment.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22960" y="4754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attention.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822960" y="5349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B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suis à la disposition du jury pour les questions.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4148</TotalTime>
  <Words>1271</Words>
  <Application>Microsoft Office PowerPoint</Application>
  <PresentationFormat>Widescreen</PresentationFormat>
  <Paragraphs>200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NESIA — Soutenance PFE</dc:title>
  <dc:subject>PptxGenJS Presentation</dc:subject>
  <dc:creator>NDIBI EYETEMOU Salomon Junior</dc:creator>
  <cp:lastModifiedBy>junioreyetemou@gmail.com</cp:lastModifiedBy>
  <cp:revision>8</cp:revision>
  <dcterms:created xsi:type="dcterms:W3CDTF">2026-07-16T15:22:01Z</dcterms:created>
  <dcterms:modified xsi:type="dcterms:W3CDTF">2026-07-19T12:39:54Z</dcterms:modified>
</cp:coreProperties>
</file>